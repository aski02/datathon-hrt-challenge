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1886cddf6b4ac6" /><Relationship Type="http://schemas.openxmlformats.org/officeDocument/2006/relationships/extended-properties" Target="/docProps/app.xml" Id="R5a95d78c69f44ccd" /><Relationship Type="http://schemas.openxmlformats.org/officeDocument/2006/relationships/officeDocument" Target="/ppt/presentation.xml" Id="R2a76777c61374c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9d18f226904976"/>
  </p:sldMasterIdLst>
  <p:notesMasterIdLst>
    <p:notesMasterId xmlns:r="http://schemas.openxmlformats.org/officeDocument/2006/relationships" r:id="Rb8b7f7c538284889"/>
  </p:notesMasterIdLst>
  <p:sldIdLst>
    <p:sldId xmlns:r="http://schemas.openxmlformats.org/officeDocument/2006/relationships" id="256" r:id="R774394c207e64dc7"/>
    <p:sldId xmlns:r="http://schemas.openxmlformats.org/officeDocument/2006/relationships" id="257" r:id="Rbdf6524b96424e75"/>
    <p:sldId xmlns:r="http://schemas.openxmlformats.org/officeDocument/2006/relationships" id="258" r:id="R9fdf222b601b4498"/>
    <p:sldId xmlns:r="http://schemas.openxmlformats.org/officeDocument/2006/relationships" id="259" r:id="Rac7b25c0febc441c"/>
    <p:sldId xmlns:r="http://schemas.openxmlformats.org/officeDocument/2006/relationships" id="260" r:id="R1733760cd0e64738"/>
    <p:sldId xmlns:r="http://schemas.openxmlformats.org/officeDocument/2006/relationships" id="261" r:id="Rf9e81c505b2441f8"/>
    <p:sldId xmlns:r="http://schemas.openxmlformats.org/officeDocument/2006/relationships" id="262" r:id="Rcce6bf6bcc1d43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d18f226904976" /><Relationship Type="http://schemas.openxmlformats.org/officeDocument/2006/relationships/theme" Target="/ppt/theme/theme1.xml" Id="R9bd72a5ec1234dda" /><Relationship Type="http://schemas.openxmlformats.org/officeDocument/2006/relationships/notesMaster" Target="/ppt/notesMasters/notesMaster1.xml" Id="Rb8b7f7c538284889" /><Relationship Type="http://schemas.openxmlformats.org/officeDocument/2006/relationships/presProps" Target="/ppt/presProps.xml" Id="R04258c6c31744538" /><Relationship Type="http://schemas.openxmlformats.org/officeDocument/2006/relationships/viewProps" Target="/ppt/viewProps.xml" Id="Rb40862c3ee4d4a7b" /><Relationship Type="http://schemas.openxmlformats.org/officeDocument/2006/relationships/tableStyles" Target="/ppt/tableStyles.xml" Id="R9be8dc92ea0144d7" /><Relationship Type="http://schemas.openxmlformats.org/officeDocument/2006/relationships/slide" Target="/ppt/slides/slide1.xml" Id="R774394c207e64dc7" /><Relationship Type="http://schemas.openxmlformats.org/officeDocument/2006/relationships/slide" Target="/ppt/slides/slide2.xml" Id="Rbdf6524b96424e75" /><Relationship Type="http://schemas.openxmlformats.org/officeDocument/2006/relationships/slide" Target="/ppt/slides/slide3.xml" Id="R9fdf222b601b4498" /><Relationship Type="http://schemas.openxmlformats.org/officeDocument/2006/relationships/slide" Target="/ppt/slides/slide4.xml" Id="Rac7b25c0febc441c" /><Relationship Type="http://schemas.openxmlformats.org/officeDocument/2006/relationships/slide" Target="/ppt/slides/slide5.xml" Id="R1733760cd0e64738" /><Relationship Type="http://schemas.openxmlformats.org/officeDocument/2006/relationships/slide" Target="/ppt/slides/slide6.xml" Id="Rf9e81c505b2441f8" /><Relationship Type="http://schemas.openxmlformats.org/officeDocument/2006/relationships/slide" Target="/ppt/slides/slide7.xml" Id="Rcce6bf6bcc1d43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117df000f7741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πthons HRT">
  <a:themeElements>
    <a:clrScheme name="πthons HRT">
      <a:accent1>
        <a:srgbClr val="16A36C"/>
      </a:accent1>
      <a:accent2>
        <a:srgbClr val="D8A238"/>
      </a:accent2>
      <a:accent3>
        <a:srgbClr val="E86F5B"/>
      </a:accent3>
      <a:accent4>
        <a:srgbClr val="2C6BED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πthons HR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6c6987db824f7b" /><Relationship Type="http://schemas.openxmlformats.org/officeDocument/2006/relationships/notesMaster" Target="/ppt/notesMasters/notesMaster1.xml" Id="R3bb40b0f0a774a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93932143f44562" /><Relationship Type="http://schemas.openxmlformats.org/officeDocument/2006/relationships/notesMaster" Target="/ppt/notesMasters/notesMaster1.xml" Id="R7d950f44646e45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1bb5a56aab439a" /><Relationship Type="http://schemas.openxmlformats.org/officeDocument/2006/relationships/notesMaster" Target="/ppt/notesMasters/notesMaster1.xml" Id="R0f30a9b6b40345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24cf164ace41f6" /><Relationship Type="http://schemas.openxmlformats.org/officeDocument/2006/relationships/notesMaster" Target="/ppt/notesMasters/notesMaster1.xml" Id="R0fa4d974ce924d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277ba6a9ed4f6b" /><Relationship Type="http://schemas.openxmlformats.org/officeDocument/2006/relationships/notesMaster" Target="/ppt/notesMasters/notesMaster1.xml" Id="Rd3158f98564d4a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a2c5ece0fe428a" /><Relationship Type="http://schemas.openxmlformats.org/officeDocument/2006/relationships/notesMaster" Target="/ppt/notesMasters/notesMaster1.xml" Id="Rbfa8d3a1993a45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510b965bc04642" /><Relationship Type="http://schemas.openxmlformats.org/officeDocument/2006/relationships/notesMaster" Target="/ppt/notesMasters/notesMaster1.xml" Id="Raceaef66656941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 for the final HRT Challenge submission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details are drawn from hrt-eth-zurich-datathon-2026/README.md.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the signal layer: price-path features plus headline timing/template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Headline model slide for the final HRT Challenge submission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Subspace ranker slide for the final HRT Challenge submission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Ensemble slide for the final HRT Challenge submission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 summarizes the final HRT Challenge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a0d5c896a42f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58dbd33c66e4af9" /><Relationship Type="http://schemas.openxmlformats.org/officeDocument/2006/relationships/slideLayout" Target="/ppt/slideLayouts/slideLayout2.xml" Id="R78a2615ea82845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a2615ea82845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f7f66680c6464b" /><Relationship Type="http://schemas.openxmlformats.org/officeDocument/2006/relationships/image" Target="/ppt/media/image.png" Id="Rd694b1bc781c44de" /><Relationship Type="http://schemas.openxmlformats.org/officeDocument/2006/relationships/notesSlide" Target="/ppt/notesSlides/notesSlide1.xml" Id="R1bb372d24dc3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44f24ea10c432c" /><Relationship Type="http://schemas.openxmlformats.org/officeDocument/2006/relationships/image" Target="/ppt/media/image2.png" Id="Re7a7a5612f8447f1" /><Relationship Type="http://schemas.openxmlformats.org/officeDocument/2006/relationships/notesSlide" Target="/ppt/notesSlides/notesSlide2.xml" Id="Rff279c676d9741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fa881520a44c76" /><Relationship Type="http://schemas.openxmlformats.org/officeDocument/2006/relationships/image" Target="/ppt/media/image3.png" Id="R02de5d3ea8714958" /><Relationship Type="http://schemas.openxmlformats.org/officeDocument/2006/relationships/notesSlide" Target="/ppt/notesSlides/notesSlide3.xml" Id="Rc1a6ee8c8dd740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70e76356f241ea" /><Relationship Type="http://schemas.openxmlformats.org/officeDocument/2006/relationships/image" Target="/ppt/media/image4.png" Id="Raec425c1db3c4430" /><Relationship Type="http://schemas.openxmlformats.org/officeDocument/2006/relationships/notesSlide" Target="/ppt/notesSlides/notesSlide4.xml" Id="R75ea52e7dfec4d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f114d07d9d4634" /><Relationship Type="http://schemas.openxmlformats.org/officeDocument/2006/relationships/image" Target="/ppt/media/image5.png" Id="R4c215fbb36fd43c6" /><Relationship Type="http://schemas.openxmlformats.org/officeDocument/2006/relationships/notesSlide" Target="/ppt/notesSlides/notesSlide5.xml" Id="Rb3695c891c5440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75bb226a60460e" /><Relationship Type="http://schemas.openxmlformats.org/officeDocument/2006/relationships/image" Target="/ppt/media/image6.png" Id="R751455309e734145" /><Relationship Type="http://schemas.openxmlformats.org/officeDocument/2006/relationships/notesSlide" Target="/ppt/notesSlides/notesSlide6.xml" Id="Ra8ac56a1a44546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858f26b2e34ef7" /><Relationship Type="http://schemas.openxmlformats.org/officeDocument/2006/relationships/image" Target="/ppt/media/image7.png" Id="R19d9ba4f7a41469b" /><Relationship Type="http://schemas.openxmlformats.org/officeDocument/2006/relationships/notesSlide" Target="/ppt/notesSlides/notesSlide7.xml" Id="R43396d51e06c4b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4b1bc781c44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243B3-F202-4CA8-94B3-621B2A1E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905BC-80A8-4B28-8AC7-3BCC30AF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-12573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07CBC-7A04-478C-96B9-FDD9BD41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0ED23-B9BC-49BF-A948-61B30A84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7913"/>
            <a:ext cx="277091" cy="985838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518AB-095A-4E8E-9BAC-3B2EF84D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266" y="2063115"/>
            <a:ext cx="277091" cy="1270635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CAD7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19397-126B-4405-A14F-44581E31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032" y="2501265"/>
            <a:ext cx="277091" cy="832485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CAD7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FACD6-2AF7-4401-BC3D-149AAEDF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798" y="1756410"/>
            <a:ext cx="277091" cy="1577340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78A88-3A42-4C12-832D-1E025B2E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564" y="1844040"/>
            <a:ext cx="277091" cy="1489710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CAD7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21239-C62B-4610-9521-232D0226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330" y="2654618"/>
            <a:ext cx="277091" cy="679133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CAD7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7E86B-B4A9-4C16-9CA1-0DF1FBA7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095" y="1493520"/>
            <a:ext cx="277091" cy="1840230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95484-AADC-4D0B-93DB-5A5BA3A2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861" y="2106930"/>
            <a:ext cx="277091" cy="1226820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CAD7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C926A-4CDE-4F09-A4F4-C3870783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627" y="1646873"/>
            <a:ext cx="277091" cy="1686878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CAD7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A14B4-C7FD-43F2-A140-167FBDC9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393" y="2260283"/>
            <a:ext cx="277091" cy="1073468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3603C-4A7A-4E75-A3C3-8E8ED8BB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159" y="1887855"/>
            <a:ext cx="277091" cy="1445895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CAD7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25785-EDDA-4704-B9CD-A13CC8E5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6C"/>
                </a:solidFill>
              </a:defRPr>
            </a:pPr>
            <a:r>
              <a:rPr sz="1050" b="1">
                <a:solidFill>
                  <a:srgbClr val="16A36C"/>
                </a:solidFill>
              </a:rPr>
              <a:t>πthons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5BE47-A488-4261-9E59-F566FD99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685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</a:defRPr>
            </a:pPr>
            <a:r>
              <a:rPr sz="3300" b="1">
                <a:solidFill>
                  <a:srgbClr val="F7F4ED"/>
                </a:solidFill>
              </a:rPr>
              <a:t>HRT Challenge for the</a:t>
            </a:r>
          </a:p>
          <a:p xmlns:a="http://schemas.openxmlformats.org/drawingml/2006/main">
            <a:pPr algn="l">
              <a:defRPr sz="3300" b="1">
                <a:solidFill>
                  <a:srgbClr val="F7F4ED"/>
                </a:solidFill>
              </a:defRPr>
            </a:pPr>
            <a:r>
              <a:rPr sz="3300" b="1">
                <a:solidFill>
                  <a:srgbClr val="F7F4ED"/>
                </a:solidFill>
              </a:rPr>
              <a:t>2026 Datathon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D08EB-6BE9-401E-AD47-87A1B48B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628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E7E3"/>
                </a:solidFill>
              </a:defRPr>
            </a:pPr>
            <a:r>
              <a:rPr sz="1575" b="0">
                <a:solidFill>
                  <a:srgbClr val="DDE7E3"/>
                </a:solidFill>
              </a:rPr>
              <a:t>We predict once at bar 50: first stay out of bad tails, then size the trades worth taking.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709D5-0DBF-4E41-9927-33BCA2B3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53911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430">
            <a:solidFill>
              <a:srgbClr val="FFFFFF">
                <a:alpha val="2039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34BD4-3863-43D9-A5A2-8F4E865A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485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4ED"/>
                </a:solidFill>
              </a:defRPr>
            </a:pPr>
            <a:r>
              <a:rPr sz="1275" b="0">
                <a:solidFill>
                  <a:srgbClr val="F7F4ED"/>
                </a:solidFill>
              </a:rPr>
              <a:t>Ahmed Assahub  ·  Maximilian Kromer  ·  Niklas Schmolenski  ·  Taha Atlagh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F70E9-83DF-4223-A40B-ADFEF227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C8C2"/>
                </a:solidFill>
              </a:defRPr>
            </a:pPr>
            <a:r>
              <a:rPr sz="975" b="1">
                <a:solidFill>
                  <a:srgbClr val="B7C8C2"/>
                </a:solidFill>
              </a:rPr>
              <a:t>Submission model: subspace-btp-hdoc-ensemble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2C7FFF-1885-4079-8141-A73F4925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3181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4ED">
              <a:alpha val="90980"/>
            </a:srgbClr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78FB6-789C-4D9B-9411-1826764C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52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848"/>
                </a:solidFill>
              </a:defRPr>
            </a:pPr>
            <a:r>
              <a:rPr sz="975" b="1">
                <a:solidFill>
                  <a:srgbClr val="0F6848"/>
                </a:solidFill>
              </a:rPr>
              <a:t>Core thesis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E8A24-AFF1-4000-AE33-CAF7580A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Stay out of bad tails. Size the trades worth taking.</a:t>
            </a:r>
          </a:p>
        </p:txBody>
      </p:sp>
    </p:spTree>
    <p:extLst>
      <p:ext uri="{BB962C8B-B14F-4D97-AF65-F5344CB8AC3E}">
        <p14:creationId xmlns:p14="http://schemas.microsoft.com/office/powerpoint/2010/main" val="1193902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7a5612f8447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91EAB-364A-4D76-89E3-7944B09A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8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B2CE0-63B9-4423-83FE-89B52AAA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CHALLENGE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B9171-3E2B-4D0F-9243-F544B37D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02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5CA4C-17FD-4D73-9EA8-8B9F07E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F0C40-3530-4082-99B4-C3CA8FDA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Position once, win on Sharpe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955E6-932D-461D-939C-3CA4C703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At bar 50 we choose one target position for the rest of the session. Sharpe rewards a smooth PnL path, so sizing matters as much as direction.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100A7-151E-4870-ABA7-6A1B5117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9AFCA-17F2-4A9A-A2FF-808B2B6A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04CDD-1BCC-4440-8812-E6B5D410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1,000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97D9C-5E56-4E08-82BD-579E0A80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training sessions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011C8-0823-4EE9-9F28-60F9FEA5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C6BFE-6AE3-4479-BCE1-22FEE7D4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7BBCE-408B-4232-AEC6-195C50D2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33850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20,000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014DA-3BED-4725-BAA2-13686324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720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test sessions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C109D-4165-4A3D-AB8F-6755B650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0525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2BA6A-AFD8-40C6-B297-66490F95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0525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51A6B-71A5-464C-B553-7E0B046B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33850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1DDEA-C83D-4921-8E32-23BC13D3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seen bars per 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AB521-A613-4394-9874-D739CDC4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CFB37-7DDC-4002-A3A7-9B1B0C8E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0F990-A99C-450D-9CBF-45AC9F42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33850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Sharpe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39EAB-DD32-43ED-AE1F-2FCF3C5C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720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evaluation metric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C3F40-C3AA-4B0D-9E13-A710CECC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066800"/>
            <a:ext cx="1714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32D397-385E-4A09-99E1-EEADF08C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76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8EC8A8-8AD3-4F8D-918B-854D3088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573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Seen half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26F678-A154-42B2-8662-EB0B1FAE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811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OHLC bars + headlines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01C8B-0BED-4EAA-8DD7-EB8D5A44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723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D2C3AF-7CDA-441B-ACAD-6250E2F0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066800"/>
            <a:ext cx="1714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0CB1FC-C42C-47D1-8B3B-BD5D13C5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276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B4F680-52CE-4681-9F9A-188D400D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2573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Position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0C6A2-C4E9-4DDA-A53E-21A97746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5811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target_position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1C59EB-BD93-44FF-9BF4-64140304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723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379734-F169-4FFB-B6B6-D5505C97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19300"/>
            <a:ext cx="2305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C229D-DA7B-444B-BC34-EBFF26E8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C6121B-6017-49DC-95A3-618BF370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09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Held to close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0077A1-F4F4-41A2-A150-28122763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336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PnL = position × future return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43F2B9-474C-4684-A8D3-8CDF9D01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00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11430">
            <a:solidFill>
              <a:srgbClr val="C7E9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45D075-F618-45D8-8759-AEA400C1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848"/>
                </a:solidFill>
              </a:defRPr>
            </a:pPr>
            <a:r>
              <a:rPr sz="975" b="1">
                <a:solidFill>
                  <a:srgbClr val="0F6848"/>
                </a:solidFill>
              </a:rPr>
              <a:t>What this means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378B7E-302C-4CDD-B065-E072D2AD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5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We would rather skip a noisy setup than carry full size into a bad tail.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CD77A1-0AC8-47ED-97DF-A0444BE3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nthons - HRT Challenge - 2026 Datathon</a:t>
            </a:r>
          </a:p>
        </p:txBody>
      </p:sp>
    </p:spTree>
    <p:extLst>
      <p:ext uri="{BB962C8B-B14F-4D97-AF65-F5344CB8AC3E}">
        <p14:creationId xmlns:p14="http://schemas.microsoft.com/office/powerpoint/2010/main" val="472977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e5d3ea87149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684DB-14E1-43FF-93F4-F5B300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8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1F39B-AF10-40BD-B176-4A0E5BF8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SIGNAL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A6479-F4AF-4BBF-A4F3-33DC8C23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03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DB58E-77CB-40DD-AE3A-43AEC621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59368-C98C-4EA1-AEA9-1EA74E90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Signals we trusted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03E3B-D9BF-4D69-99AB-DA83A74F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Every feature is built from the seen half. Price movement gives the base view; headlines add event context and timing.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897B4-5481-47D2-B002-8CB77F8B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2CF0D-A687-41D8-88CC-07C24C7B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DC6D9-8E6B-4E97-9D38-3A0908C6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528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Seen bars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56C74-4F22-4AA3-8E44-07A97E43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766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OHLC path up to bar 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AE7FA-4FC7-40BA-B092-B51E331C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C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BBEFC-072B-4380-8F71-DB41836A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91100"/>
            <a:ext cx="57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36243-2EE7-4439-8544-217FBE69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2D7B3-E309-4809-BEB3-61B4CBBC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848225"/>
            <a:ext cx="57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75C85-4DF3-4D8C-8370-6922D270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385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1B199-0FC3-4C17-8DB6-EE48F8EC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A4DED-2C4E-4219-9287-5797119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71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A80F6-78C4-4F15-98B7-E5DE4D83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528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Price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FE7B2-4D19-4C61-81FF-C290BAC0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6766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returns, ranges, candle body, DCT shape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08D5C-33AC-4332-A550-CBF7F789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24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238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38C86-6CDE-4697-AD93-C2B23C45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57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8BC2A-1C6A-46D9-A06B-7E035859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91490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DA55B-2937-4716-B5BE-948807CB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57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12986F-3D7A-4D7B-9C79-583756C9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385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518F4-2280-4D7B-953F-09C9D18D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623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95030-16FA-440F-9495-88D5615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71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00C9DA-BEA7-4DA3-80E3-3CD86E0B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528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Headlines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A2617-A99D-455E-A9DE-2D930B8E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templates, intents, transitions, timing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50C6D-E434-46E3-8DE4-3A193C3C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24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BED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C0454C-2659-43F5-A1EE-4AE59D62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991100"/>
            <a:ext cx="57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7FCAFF-8ED2-4F75-A05D-6C7AE60B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1490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EEB9F1-8AC2-45B2-B9D4-94AFD969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848225"/>
            <a:ext cx="57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2A8406-AFD5-4E94-82D7-01C3ADF0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1F43D1-7B46-4EF9-B0E6-2C888A21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623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01E0CE-4391-41C4-9DA2-1216991F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71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6BB1AD-2A89-4463-9438-7ED80FC4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3528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Risk 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8DBC02-1E3E-4C18-B285-29E6F30E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6766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bad-tail odds + downside rank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740328-E359-4064-AA77-16C5DFF8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724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5B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0C5905-F6D8-4DF8-8BC4-2EEB30C4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91100"/>
            <a:ext cx="57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2EE869-C5A1-40B0-9BD3-447A88D5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91490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ADDECF-6736-42D4-A7C4-9E5CB905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48225"/>
            <a:ext cx="57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5CB45B-F343-450A-9B1F-89977A52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385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FDA6A6-0961-48F8-97FA-CA077C6C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597C9F-7F27-4049-B283-C188A287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71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E7762E-8A24-4122-AEBB-959F5D9E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528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Position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2E5DA6-09C1-4FE6-9939-41ED0536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766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calibrated target_position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FE1FD1-8468-4296-9FA8-65AEA495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24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C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E3D362-7C7A-40E7-896A-2F4DD38C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91100"/>
            <a:ext cx="57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413376-B9DA-4399-B581-BD8FAC35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14900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1BD139-A3BA-48F9-889E-D7A65B7A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848225"/>
            <a:ext cx="57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7E687A-020A-43D6-A1C9-B6AE2CF6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914400"/>
            <a:ext cx="4000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3A930E-AB84-407E-810C-CE6C7341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9144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CB468D-18A8-4DD1-B763-D85D1643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123950"/>
            <a:ext cx="354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6C"/>
                </a:solidFill>
              </a:defRPr>
            </a:pPr>
            <a:r>
              <a:rPr sz="1125" b="1">
                <a:solidFill>
                  <a:srgbClr val="16A36C"/>
                </a:solidFill>
              </a:rPr>
              <a:t>FEATURES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0BEE21-B3E5-4A5B-8006-8F10D09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04950"/>
            <a:ext cx="3543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426 price-path features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bar-50 cutoff only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same schema for public/private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07D625-4A87-41AC-8142-1DB36C45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nthons - HRT Challenge - 2026 Datathon</a:t>
            </a:r>
          </a:p>
        </p:txBody>
      </p:sp>
    </p:spTree>
    <p:extLst>
      <p:ext uri="{BB962C8B-B14F-4D97-AF65-F5344CB8AC3E}">
        <p14:creationId xmlns:p14="http://schemas.microsoft.com/office/powerpoint/2010/main" val="1367425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425c1db3c44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68544-9C5B-4786-9C8F-AD16007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8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42C17-2EF2-4EE9-B78B-E15CE34B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MODEL FAMILY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E2F4C-2B3D-454D-A548-146BD3CB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04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7D80D-5655-4C2A-889D-504EDD89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C1495-BB00-4659-A9D2-1F8D6803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Headline-aware downside filter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0732C-879A-4BC0-891E-CE736490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Headlines matter most when they tell us a session is unusual, late-breaking, or moving into a risky template.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024ED-A314-4908-928C-292E273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21B0C-D9C1-4800-9CAD-ACC7B925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84D99-9C25-46DF-801F-B862D1D3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6C"/>
                </a:solidFill>
              </a:defRPr>
            </a:pPr>
            <a:r>
              <a:rPr sz="1125" b="1">
                <a:solidFill>
                  <a:srgbClr val="16A36C"/>
                </a:solidFill>
              </a:rPr>
              <a:t>HEADLINE SHAPE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D922A-4F51-47AD-A20B-551EFA4D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686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templates and intent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sequence changes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late headlines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18174-2CC0-45AD-A3FF-5A723CC9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194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18C1C-960F-4F49-94E4-E8EC12D1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194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D5BFC-6443-48E7-AAF0-3B34F239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238"/>
                </a:solidFill>
              </a:defRPr>
            </a:pPr>
            <a:r>
              <a:rPr sz="1125" b="1">
                <a:solidFill>
                  <a:srgbClr val="D8A238"/>
                </a:solidFill>
              </a:rPr>
              <a:t>DOWNSIDE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73769-AE1E-4D62-AD36-7054808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09950"/>
            <a:ext cx="2686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ExtraTrees classifier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bad-tail focus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loss avoidance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24CDC-0C30-46CF-BA9F-FA5B2A68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194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764DD-B8FB-4632-B662-EAE7CFD0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194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8926B-6AE7-4E21-AB42-40B3BEDF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6F5B"/>
                </a:solidFill>
              </a:defRPr>
            </a:pPr>
            <a:r>
              <a:rPr sz="1125" b="1">
                <a:solidFill>
                  <a:srgbClr val="E86F5B"/>
                </a:solidFill>
              </a:rPr>
              <a:t>SIZING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78A1D-BA9C-480A-9103-8AB52B29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9950"/>
            <a:ext cx="2686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trim flagged sessions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scale remaining exposure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keep long bias controlled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9F942-4320-4149-A862-6CB8C4FD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19500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314F4-4D18-4025-B613-3A921DB0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19500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E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3E398-EA68-4C36-A583-4B731FBF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nthons - HRT Challenge - 2026 Datathon</a:t>
            </a:r>
          </a:p>
        </p:txBody>
      </p:sp>
    </p:spTree>
    <p:extLst>
      <p:ext uri="{BB962C8B-B14F-4D97-AF65-F5344CB8AC3E}">
        <p14:creationId xmlns:p14="http://schemas.microsoft.com/office/powerpoint/2010/main" val="1484383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15fbb36fd43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F4719-BB7B-408B-BD77-AAFFBC0F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8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BD8D7-334B-4B92-BC4D-EAB67404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MODEL FAMILY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9F949-DDF5-4B54-939E-00F68256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05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8A359-2CA7-44C9-921F-B497E56F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1B9C3-CA12-4E95-A959-B02BF57D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Subspace bagged downside ranker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FD303-0091-4248-A74D-9FEC0D90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Twelve logistic heads each see a different slice of the price feature set. We trust heads that validate well and let consensus drive the rank.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A9C31-3A78-4784-B47C-919807AD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5727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B7F75-8F76-4069-99BF-ECF034AD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CAE21-1B8D-4ECC-9048-EE0C8480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D65A9-F4E2-45BE-AC96-84F66D08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2DE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8F601-AAA2-4EE1-B44E-A881E578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575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514E6-88DD-49A1-B39F-F81620FB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52599-F73D-4AC8-8B66-BFE4DFBC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575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3C63A-C2BD-4B8A-9F53-B2CC0C4B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0515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2DE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177BA-9AF8-4623-8A93-031AB702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575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1C979-F563-429C-AB15-F2BABBB1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0515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F64EB-F099-435E-8900-A2224BCF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575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5BA90-A895-4102-B17E-FCFBD01C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2DE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519FC-A0D0-4D77-B1F1-C7614388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5755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06F81-969F-4244-B766-3968A60C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1BF18-CEE1-426A-B81A-ADD53303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04E43-28C3-47D6-8C52-F71527D2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243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2DE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E13ABA-1AA4-43DA-B82C-574F2CF0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76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0B61B-580D-40DE-8D14-EBF80D80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243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3357F8-BFC4-46DA-9B84-9E65B19E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76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CBB07-E79A-4B55-AE61-CC11C47F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243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2DE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149843-662D-428F-9826-4E58C9FB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75781C-7F3B-42CE-BB9C-C4AD227C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243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2E10BA-47C2-45BF-8837-F97B7AC5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76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4504EA-56C9-4FB2-A216-4059AE4B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2DE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2CFE5D-43B8-4CE9-9E66-5F76C6D8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76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Head 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71D212-75DA-42D3-BA00-0ABBAC0E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625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F6848"/>
                </a:solidFill>
              </a:defRPr>
            </a:pPr>
            <a:r>
              <a:rPr sz="1500" b="1">
                <a:solidFill>
                  <a:srgbClr val="0F6848"/>
                </a:solidFill>
              </a:rPr>
              <a:t>Consensus downside rank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499F22-080B-4D34-ABBD-AE70B786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nthons - HRT Challenge - 2026 Datathon</a:t>
            </a:r>
          </a:p>
        </p:txBody>
      </p:sp>
    </p:spTree>
    <p:extLst>
      <p:ext uri="{BB962C8B-B14F-4D97-AF65-F5344CB8AC3E}">
        <p14:creationId xmlns:p14="http://schemas.microsoft.com/office/powerpoint/2010/main" val="1503471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455309e7341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97C11-7748-416C-AF43-9A247651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8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9A624-C0A0-4936-B5FE-F7F4959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FINAL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E276A-32F9-4C4C-B039-04AFBC7F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06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FB8FE-CA1F-46D8-9068-165426BC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62500-E5BF-4BC9-B1D2-E7804E04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Controlled 70/30 ensemble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1122A-ADF0-4CB7-A234-A8DC823E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The subspace ranker sets the exposure shape. The headline model can move sessions within that shape when text evidence disagrees.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FA223-C301-467B-9F53-E5120C30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428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4A248-E62E-45FF-BC84-CBE1D013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09E1D-BD95-4371-84FF-0EDA5E83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1552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Price anchor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AE562-B76F-47D2-9EFC-D6FD202A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00"/>
            <a:ext cx="1552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subspace downside ranker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3D3ED-868C-4C8C-9AD2-BD777085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428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224FD-D8C5-4E7C-ADC1-7787F771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B3E2F-6337-4D20-8CDC-D1BB7650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1552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Headline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44E2B-6268-450E-AD12-148B242A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1552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document/template ranker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0035B-A327-4641-A304-A37A8B43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1238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1DB13-9D97-40E1-922C-6E407CA0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575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6848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64B87-953A-4FC5-B017-F4673788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766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7F4ED"/>
                </a:solidFill>
              </a:defRPr>
            </a:pPr>
            <a:r>
              <a:rPr sz="3150" b="1">
                <a:solidFill>
                  <a:srgbClr val="F7F4ED"/>
                </a:solidFill>
              </a:rPr>
              <a:t>70 / 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441B9-240C-459D-BD99-C00E1887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433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8F4E6"/>
                </a:solidFill>
              </a:defRPr>
            </a:pPr>
            <a:r>
              <a:rPr sz="1125" b="1">
                <a:solidFill>
                  <a:srgbClr val="D8F4E6"/>
                </a:solidFill>
              </a:rPr>
              <a:t>level_qmap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76BFF-743C-4043-B962-E493A05F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1238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48E56-F6A1-449E-B614-F2947AA7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7660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B1491-2C22-4898-A9FC-8D91B7B2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86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FE9A2-ED36-4144-B080-51CBD126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671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Submission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9DEAB-4CD3-473A-8CBC-3849ACEB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90950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one position per test session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CBD10-658F-49FA-984A-1D506620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06680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B4627-24E0-434C-A341-1CB158B5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0668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9E9060-878B-4870-91FD-6E973EC6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954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70%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88825-1364-4F20-989B-E6FE61AB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33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price anchor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D4134-036E-4F72-85DB-25C44C0C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6680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0189B9-D341-4B45-A120-E46DB8B1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668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8C5011-9F67-4192-B274-0EC37B8A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954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30%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27DC5E-B789-48A3-A4E8-51E53275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33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headline 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2C1266-B568-47F6-A3E9-C4D35FD1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nthons - HRT Challenge - 2026 Datathon</a:t>
            </a:r>
          </a:p>
        </p:txBody>
      </p:sp>
    </p:spTree>
    <p:extLst>
      <p:ext uri="{BB962C8B-B14F-4D97-AF65-F5344CB8AC3E}">
        <p14:creationId xmlns:p14="http://schemas.microsoft.com/office/powerpoint/2010/main" val="2003814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9ba4f7a4146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2081E-1A68-40D7-A090-18E8C0AF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8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09118-3B28-4001-8B01-C2A09A6A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E2241-7B90-48B3-914F-184E9D77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6848"/>
                </a:solidFill>
              </a:defRPr>
            </a:pPr>
            <a:r>
              <a:rPr sz="900" b="1">
                <a:solidFill>
                  <a:srgbClr val="0F6848"/>
                </a:solidFill>
              </a:rPr>
              <a:t>07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09705-BF64-40D9-B1CF-BE05E540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CCE75-DCB6-45CF-822D-BA111F88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What we submit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B6394-2B6C-46AD-918C-2DBD3FD0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The final file is a 20k-row position vector: broad enough to take opportunities, cautious enough to step away from the worst 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82E78-A11A-46B2-9DE3-7367C2C8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A31D9-547E-419F-9101-0CA3FCB2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1C25D-D29C-41D4-9133-F19E0772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20,000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729A4-2043-4E25-B812-4D0CBEE6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target positions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09A6F-6F7A-4F6E-8808-ABC6F519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85504-F38B-4FF6-BC69-272E2D1E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47D0D-C280-40BB-8E6D-A2B4EBBF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765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3.79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BA61D-521F-48E2-8212-E6D0D545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147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local train Sharpe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38768-9FB2-4FD7-86D1-6758F6E8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479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65695-7CA3-4F96-A899-374C26E7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47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3A7F1-C6B2-4828-B175-AD359701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60687-1DC5-4163-8A20-30C3DD02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price heads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33C82-D9DC-4718-B1F5-08DA32AC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EDE3B-0C69-4BD7-AE9A-DAAD33D1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A3AE4-9B2A-4103-92D7-A764F5D9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765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70/30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E0975-6F15-4437-A113-1B495D22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147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price/headline mix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8012C-7F07-477D-B52B-266BA06D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30670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89982-E336-41F3-AF81-AD64376E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89EFDD-FDBF-46D5-A827-D876E4CC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6C"/>
                </a:solidFill>
              </a:defRPr>
            </a:pPr>
            <a:r>
              <a:rPr sz="1125" b="1">
                <a:solidFill>
                  <a:srgbClr val="16A36C"/>
                </a:solidFill>
              </a:rPr>
              <a:t>PROTECT SHARPE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68528-1FE0-4202-B855-8B333728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2609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gate bad tails first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do not chase every 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EDF849-2467-48A2-97C6-83AE9A6F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30670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3009C-7C53-46C4-92DA-2D2B878C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87402F-A942-4216-B1D7-86868C80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482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238"/>
                </a:solidFill>
              </a:defRPr>
            </a:pPr>
            <a:r>
              <a:rPr sz="1125" b="1">
                <a:solidFill>
                  <a:srgbClr val="D8A238"/>
                </a:solidFill>
              </a:rPr>
              <a:t>USE BOTH VIEWS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CEA27E-0321-47B9-B014-39F164A3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29200"/>
            <a:ext cx="2609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price path plus headlines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agreement raises conviction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79860-0982-4CC9-A61A-D52F90A2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30670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9AD016-124C-401E-861F-08A1DE13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19AC56-96F2-4490-9836-FCAA945D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6F5B"/>
                </a:solidFill>
              </a:defRPr>
            </a:pPr>
            <a:r>
              <a:rPr sz="1125" b="1">
                <a:solidFill>
                  <a:srgbClr val="E86F5B"/>
                </a:solidFill>
              </a:rPr>
              <a:t>KEEP SIZE SANE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364D33-E2B6-4EC7-8C58-A736BB13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29200"/>
            <a:ext cx="2609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rank/quantile mapping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• controlled exposure spread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13F92E-2383-4F24-8070-CF8CEDFD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nthons - HRT Challenge - 2026 Datathon</a:t>
            </a:r>
          </a:p>
        </p:txBody>
      </p:sp>
    </p:spTree>
    <p:extLst>
      <p:ext uri="{BB962C8B-B14F-4D97-AF65-F5344CB8AC3E}">
        <p14:creationId xmlns:p14="http://schemas.microsoft.com/office/powerpoint/2010/main" val="1626834843"/>
      </p:ext>
    </p:extLst>
  </p:cSld>
</p:sld>
</file>

<file path=ppt/theme/theme1.xml><?xml version="1.0" encoding="utf-8"?>
<a:theme xmlns:a="http://schemas.openxmlformats.org/drawingml/2006/main" name="πthons HRT">
  <a:themeElements>
    <a:clrScheme name="πthons HRT">
      <a:accent1>
        <a:srgbClr val="16A36C"/>
      </a:accent1>
      <a:accent2>
        <a:srgbClr val="D8A238"/>
      </a:accent2>
      <a:accent3>
        <a:srgbClr val="E86F5B"/>
      </a:accent3>
      <a:accent4>
        <a:srgbClr val="2C6BED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πthons HR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2026-04-25T11:17:52.3010000Z</dcterms:created>
  <dcterms:modified xsi:type="dcterms:W3CDTF">2026-04-25T11:17:52.3010000Z</dcterms:modified>
</coreProperties>
</file>